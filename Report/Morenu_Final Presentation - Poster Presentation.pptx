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46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/>
    <p:restoredTop sz="94690"/>
  </p:normalViewPr>
  <p:slideViewPr>
    <p:cSldViewPr snapToGrid="0" snapToObjects="1">
      <p:cViewPr varScale="1">
        <p:scale>
          <a:sx n="34" d="100"/>
          <a:sy n="34" d="100"/>
        </p:scale>
        <p:origin x="108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en.wikipedia.org/wiki/Florida_Gators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7AF6E7A-71BB-3878-170D-7B2934D27034}"/>
              </a:ext>
            </a:extLst>
          </p:cNvPr>
          <p:cNvGrpSpPr/>
          <p:nvPr/>
        </p:nvGrpSpPr>
        <p:grpSpPr>
          <a:xfrm>
            <a:off x="-8309" y="-297"/>
            <a:ext cx="3474720" cy="1371600"/>
            <a:chOff x="28886206" y="114300"/>
            <a:chExt cx="3474720" cy="13716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B6E37ED-4DB7-3DA1-B41A-055F46284886}"/>
                </a:ext>
              </a:extLst>
            </p:cNvPr>
            <p:cNvSpPr/>
            <p:nvPr/>
          </p:nvSpPr>
          <p:spPr>
            <a:xfrm>
              <a:off x="28886206" y="114300"/>
              <a:ext cx="3474720" cy="1371600"/>
            </a:xfrm>
            <a:prstGeom prst="rect">
              <a:avLst/>
            </a:prstGeom>
            <a:solidFill>
              <a:srgbClr val="FA46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800" b="1">
                  <a:solidFill>
                    <a:srgbClr val="FFFFFF"/>
                  </a:solidFill>
                </a:defRPr>
              </a:pPr>
              <a:endParaRPr dirty="0"/>
            </a:p>
          </p:txBody>
        </p:sp>
        <p:pic>
          <p:nvPicPr>
            <p:cNvPr id="25" name="Picture 24" descr="A green alligator head with orange and blue background&#10;&#10;Description automatically generated">
              <a:extLst>
                <a:ext uri="{FF2B5EF4-FFF2-40B4-BE49-F238E27FC236}">
                  <a16:creationId xmlns:a16="http://schemas.microsoft.com/office/drawing/2014/main" id="{1865F507-D41C-6FD2-4F3C-1DBB0D89D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29750146" y="245477"/>
              <a:ext cx="1742399" cy="1106424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6ABDA26-B020-621D-4FD6-184914C265E9}"/>
              </a:ext>
            </a:extLst>
          </p:cNvPr>
          <p:cNvGrpSpPr/>
          <p:nvPr/>
        </p:nvGrpSpPr>
        <p:grpSpPr>
          <a:xfrm>
            <a:off x="29443680" y="32306"/>
            <a:ext cx="3474720" cy="1371600"/>
            <a:chOff x="28886206" y="114300"/>
            <a:chExt cx="3474720" cy="13716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E0C634E-99D4-1788-77AF-B8A5469FFCFF}"/>
                </a:ext>
              </a:extLst>
            </p:cNvPr>
            <p:cNvSpPr/>
            <p:nvPr/>
          </p:nvSpPr>
          <p:spPr>
            <a:xfrm>
              <a:off x="28886206" y="114300"/>
              <a:ext cx="3474720" cy="1371600"/>
            </a:xfrm>
            <a:prstGeom prst="rect">
              <a:avLst/>
            </a:prstGeom>
            <a:solidFill>
              <a:srgbClr val="FA46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800" b="1">
                  <a:solidFill>
                    <a:srgbClr val="FFFFFF"/>
                  </a:solidFill>
                </a:defRPr>
              </a:pPr>
              <a:endParaRPr dirty="0"/>
            </a:p>
          </p:txBody>
        </p:sp>
        <p:pic>
          <p:nvPicPr>
            <p:cNvPr id="35" name="Picture 34" descr="A green alligator head with orange and blue background&#10;&#10;Description automatically generated">
              <a:extLst>
                <a:ext uri="{FF2B5EF4-FFF2-40B4-BE49-F238E27FC236}">
                  <a16:creationId xmlns:a16="http://schemas.microsoft.com/office/drawing/2014/main" id="{AC53752E-34AF-D99E-FA62-23D5D4824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29750145" y="245477"/>
              <a:ext cx="1746842" cy="1109245"/>
            </a:xfrm>
            <a:prstGeom prst="rect">
              <a:avLst/>
            </a:prstGeom>
          </p:spPr>
        </p:pic>
      </p:grpSp>
      <p:sp>
        <p:nvSpPr>
          <p:cNvPr id="2" name="Rectangle 1"/>
          <p:cNvSpPr/>
          <p:nvPr/>
        </p:nvSpPr>
        <p:spPr>
          <a:xfrm>
            <a:off x="0" y="0"/>
            <a:ext cx="32918400" cy="1828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04846" y="-112728"/>
            <a:ext cx="25966788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rPr sz="6000" dirty="0"/>
              <a:t>Multimodal Cardiovascular Risk Prediction from Clinical, Tabular, and ECG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86890" y="626294"/>
            <a:ext cx="187780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E6E6E6"/>
                </a:solidFill>
              </a:defRPr>
            </a:pPr>
            <a:r>
              <a:rPr sz="4800" b="1" dirty="0">
                <a:latin typeface="Calibri" panose="02020603050405020304" pitchFamily="18" charset="0"/>
                <a:cs typeface="Times New Roman" panose="02020603050405020304" pitchFamily="18" charset="0"/>
              </a:rPr>
              <a:t>Angel Morenu — </a:t>
            </a:r>
            <a:r>
              <a:rPr lang="en-US" sz="4800" b="1" dirty="0">
                <a:latin typeface="Calibri" panose="02020603050405020304" pitchFamily="18" charset="0"/>
                <a:cs typeface="Times New Roman" panose="02020603050405020304" pitchFamily="18" charset="0"/>
              </a:rPr>
              <a:t>EEE 6778 – Applied Machine Learning II (Fall 2025) </a:t>
            </a:r>
          </a:p>
          <a:p>
            <a:pPr algn="ctr">
              <a:defRPr sz="2600" b="0">
                <a:solidFill>
                  <a:srgbClr val="E6E6E6"/>
                </a:solidFill>
              </a:defRPr>
            </a:pP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71962" y="1632919"/>
            <a:ext cx="82426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A4616"/>
                </a:solidFill>
              </a:defRPr>
            </a:pPr>
            <a:r>
              <a:rPr lang="en-US" sz="2600" dirty="0">
                <a:solidFill>
                  <a:srgbClr val="FA4616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Goal</a:t>
            </a:r>
            <a:endParaRPr sz="2600" dirty="0">
              <a:solidFill>
                <a:srgbClr val="FA461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582" y="2246295"/>
            <a:ext cx="841222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effectLst/>
                <a:latin typeface="Calibri" panose="02020603050405020304" pitchFamily="18" charset="0"/>
                <a:cs typeface="Times New Roman" panose="02020603050405020304" pitchFamily="18" charset="0"/>
              </a:rPr>
              <a:t>Build a multi-modal system that fuses:</a:t>
            </a:r>
          </a:p>
          <a:p>
            <a:r>
              <a:rPr lang="en-US" sz="2600" dirty="0">
                <a:solidFill>
                  <a:schemeClr val="bg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600" dirty="0">
                <a:solidFill>
                  <a:schemeClr val="bg1"/>
                </a:solidFill>
                <a:effectLst/>
                <a:latin typeface="Calibri" panose="02020603050405020304" pitchFamily="18" charset="0"/>
                <a:cs typeface="Times New Roman" panose="02020603050405020304" pitchFamily="18" charset="0"/>
              </a:rPr>
              <a:t>emographic &amp; Clinical tabular data, hospital admission information, and raw ECG signals to estimate cardiovascular disease (CVD) risk and support future edge 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2843" y="4074874"/>
            <a:ext cx="328250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A4616"/>
                </a:solidFill>
              </a:defRPr>
            </a:pPr>
            <a:r>
              <a:rPr sz="2600" dirty="0">
                <a:solidFill>
                  <a:srgbClr val="FA4616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Problem &amp;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" y="4442029"/>
            <a:ext cx="8412227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Clinical need: 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solidFill>
                  <a:schemeClr val="bg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CVD remains a leading global cause of death. Risk scores are often based only on</a:t>
            </a:r>
          </a:p>
          <a:p>
            <a:r>
              <a:rPr lang="en-US" sz="2600" dirty="0">
                <a:solidFill>
                  <a:schemeClr val="bg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tabular factors (age, BP, cholesterol) and ignore rich signal data from ECGs.</a:t>
            </a:r>
          </a:p>
          <a:p>
            <a:r>
              <a:rPr lang="en-US" sz="2600" dirty="0">
                <a:solidFill>
                  <a:schemeClr val="bg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Challenge: 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solidFill>
                  <a:schemeClr val="bg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Heterogeneous data (structured + time series).</a:t>
            </a:r>
          </a:p>
          <a:p>
            <a:r>
              <a:rPr lang="en-US" sz="2600" dirty="0">
                <a:solidFill>
                  <a:schemeClr val="bg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Small, imbalanced datasets.</a:t>
            </a:r>
          </a:p>
          <a:p>
            <a:r>
              <a:rPr lang="en-US" sz="2600" dirty="0">
                <a:solidFill>
                  <a:schemeClr val="bg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Need for interpretable predictions to support clinical trust.</a:t>
            </a:r>
          </a:p>
          <a:p>
            <a:r>
              <a:rPr lang="en-US" sz="2600" dirty="0">
                <a:solidFill>
                  <a:schemeClr val="bg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Vision: 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solidFill>
                  <a:schemeClr val="bg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A modular, reproducible pipeline that can eventually power:</a:t>
            </a:r>
          </a:p>
          <a:p>
            <a:r>
              <a:rPr lang="en-US" sz="2600" dirty="0">
                <a:solidFill>
                  <a:schemeClr val="bg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point-of-care risk triage tools, and lightweight edge deployments (e.g., wearable sensors).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4125" y="9681275"/>
            <a:ext cx="325153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A4616"/>
                </a:solidFill>
              </a:defRPr>
            </a:pPr>
            <a:r>
              <a:rPr sz="2600" dirty="0">
                <a:solidFill>
                  <a:srgbClr val="FA4616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Data &amp; Pre‑processing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" y="10096562"/>
            <a:ext cx="9917356" cy="2961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rPr sz="2600" dirty="0">
                <a:latin typeface="Calibri" panose="02020603050405020304" pitchFamily="18" charset="0"/>
                <a:cs typeface="Times New Roman" panose="02020603050405020304" pitchFamily="18" charset="0"/>
              </a:rPr>
              <a:t>• Kaggle Cardiovascular Diseases dataset: tabular risk factors.</a:t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600" dirty="0">
                <a:latin typeface="Calibri" panose="02020603050405020304" pitchFamily="18" charset="0"/>
                <a:cs typeface="Times New Roman" panose="02020603050405020304" pitchFamily="18" charset="0"/>
              </a:rPr>
              <a:t>• Synthetic ECG waveforms used for prototype saliency analysis.</a:t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600" dirty="0">
                <a:latin typeface="Calibri" panose="02020603050405020304" pitchFamily="18" charset="0"/>
                <a:cs typeface="Times New Roman" panose="02020603050405020304" pitchFamily="18" charset="0"/>
              </a:rPr>
              <a:t>• Tabular pipeline: scikit‑learn Column Transformer (impute, scale, one‑hot encode).</a:t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600" dirty="0">
                <a:latin typeface="Calibri" panose="02020603050405020304" pitchFamily="18" charset="0"/>
                <a:cs typeface="Times New Roman" panose="02020603050405020304" pitchFamily="18" charset="0"/>
              </a:rPr>
              <a:t>• ECG pipeline: resample, band‑pass filter, window fixed‑length segments.</a:t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600" dirty="0">
                <a:latin typeface="Calibri" panose="02020603050405020304" pitchFamily="18" charset="0"/>
                <a:cs typeface="Times New Roman" panose="02020603050405020304" pitchFamily="18" charset="0"/>
              </a:rPr>
              <a:t>• Split into train/validation/test with patient‑level separation.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85183" y="1576371"/>
            <a:ext cx="3886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3000" b="1">
                <a:solidFill>
                  <a:srgbClr val="FA4616"/>
                </a:solidFill>
              </a:defRPr>
            </a:pPr>
            <a:r>
              <a:rPr sz="2600" dirty="0">
                <a:solidFill>
                  <a:srgbClr val="FA4616"/>
                </a:solidFill>
                <a:latin typeface="Calibri"/>
              </a:rPr>
              <a:t>System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37163" y="6578997"/>
            <a:ext cx="10524085" cy="1292662"/>
          </a:xfrm>
          <a:prstGeom prst="rect">
            <a:avLst/>
          </a:prstGeom>
          <a:solidFill>
            <a:srgbClr val="FA4616"/>
          </a:solidFill>
        </p:spPr>
        <p:txBody>
          <a:bodyPr wrap="square">
            <a:spAutoFit/>
          </a:bodyPr>
          <a:lstStyle/>
          <a:p>
            <a:pPr algn="just">
              <a:defRPr sz="2000" b="0">
                <a:solidFill>
                  <a:srgbClr val="FFFFFF"/>
                </a:solidFill>
              </a:defRPr>
            </a:pPr>
            <a:r>
              <a:rPr sz="2600" dirty="0">
                <a:latin typeface="Calibri" panose="02020603050405020304" pitchFamily="18" charset="0"/>
                <a:cs typeface="Times New Roman" panose="02020603050405020304" pitchFamily="18" charset="0"/>
              </a:rPr>
              <a:t>Figure 1. Fusion pipeline: scikit‑learn preprocessing for tabular &amp; clinical features, 1‑D CNN+LSTM ECG encoder, followed by dense fusion layers with dropout and probability calibration.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75683" y="7936853"/>
            <a:ext cx="3505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3000" b="1">
                <a:solidFill>
                  <a:srgbClr val="FA4616"/>
                </a:solidFill>
              </a:defRPr>
            </a:pPr>
            <a:r>
              <a:rPr sz="2600" dirty="0">
                <a:solidFill>
                  <a:srgbClr val="FA4616"/>
                </a:solidFill>
                <a:latin typeface="Calibri"/>
              </a:rPr>
              <a:t>Modeling &amp;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64414" y="8288317"/>
            <a:ext cx="10927734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• Baselines: Logistic Regression, Random Forest, XGBoost on tabular data.</a:t>
            </a:r>
          </a:p>
          <a:p>
            <a:r>
              <a:rPr lang="en-US" sz="2600" dirty="0">
                <a:solidFill>
                  <a:schemeClr val="bg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• Fusion network implemented in PyTorch with BCE loss.</a:t>
            </a:r>
          </a:p>
          <a:p>
            <a:r>
              <a:rPr lang="en-US" sz="2600" dirty="0">
                <a:solidFill>
                  <a:schemeClr val="bg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• Adam optimizer with mini‑batch training and early stopping.</a:t>
            </a:r>
          </a:p>
          <a:p>
            <a:r>
              <a:rPr lang="en-US" sz="2600" dirty="0">
                <a:solidFill>
                  <a:schemeClr val="bg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• Metrics: AUC‑ROC, AUC‑PR, confusion matrix, Brier score, and calibration curves.</a:t>
            </a:r>
          </a:p>
          <a:p>
            <a:r>
              <a:rPr lang="en-US" sz="2600" dirty="0">
                <a:solidFill>
                  <a:schemeClr val="bg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• Small test set used here to stress‑test calibration and error analysis.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42320" y="10809530"/>
            <a:ext cx="561516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3000" b="1">
                <a:solidFill>
                  <a:srgbClr val="FA4616"/>
                </a:solidFill>
              </a:defRPr>
            </a:pPr>
            <a:r>
              <a:rPr sz="2600" dirty="0">
                <a:solidFill>
                  <a:srgbClr val="FA4616"/>
                </a:solidFill>
                <a:latin typeface="Calibri"/>
              </a:rPr>
              <a:t>Interpretability: Saliency &amp; SHAP</a:t>
            </a:r>
          </a:p>
        </p:txBody>
      </p:sp>
      <p:pic>
        <p:nvPicPr>
          <p:cNvPr id="19" name="Picture 18" descr="ecg_sali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0812" y="11238103"/>
            <a:ext cx="10905438" cy="27263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266625" y="13964463"/>
            <a:ext cx="10919625" cy="892552"/>
          </a:xfrm>
          <a:prstGeom prst="rect">
            <a:avLst/>
          </a:prstGeom>
          <a:solidFill>
            <a:srgbClr val="FA4616"/>
          </a:solidFill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rPr sz="2600" dirty="0">
                <a:latin typeface="Calibri"/>
              </a:rPr>
              <a:t>Figure 2. Gradient‑based saliency overlaid on an ECG segment. The model focuses on QRS‑like complexes when predicting elevated risk.</a:t>
            </a:r>
          </a:p>
        </p:txBody>
      </p:sp>
      <p:pic>
        <p:nvPicPr>
          <p:cNvPr id="21" name="Picture 20" descr="shap_force_exam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6937" y="14962700"/>
            <a:ext cx="7602692" cy="59871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113559" y="20949820"/>
            <a:ext cx="11072691" cy="892552"/>
          </a:xfrm>
          <a:prstGeom prst="rect">
            <a:avLst/>
          </a:prstGeom>
          <a:solidFill>
            <a:srgbClr val="FA4616"/>
          </a:solidFill>
        </p:spPr>
        <p:txBody>
          <a:bodyPr wrap="square">
            <a:spAutoFit/>
          </a:bodyPr>
          <a:lstStyle/>
          <a:p>
            <a:pPr algn="just">
              <a:defRPr sz="2000" b="0">
                <a:solidFill>
                  <a:srgbClr val="FFFFFF"/>
                </a:solidFill>
              </a:defRPr>
            </a:pPr>
            <a:r>
              <a:rPr sz="2600" dirty="0">
                <a:latin typeface="Calibri"/>
              </a:rPr>
              <a:t>Figure 3. SHAP feature importance for the fusion model. Age, systolic BP, and ECG‑derived features dominate the risk score.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427827" y="1605456"/>
            <a:ext cx="4571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A4616"/>
                </a:solidFill>
              </a:defRPr>
            </a:pPr>
            <a:r>
              <a:rPr sz="2600" dirty="0">
                <a:solidFill>
                  <a:srgbClr val="FA4616"/>
                </a:solidFill>
                <a:latin typeface="Calibri"/>
              </a:rPr>
              <a:t>Results &amp; Error Analysis</a:t>
            </a:r>
          </a:p>
        </p:txBody>
      </p:sp>
      <p:pic>
        <p:nvPicPr>
          <p:cNvPr id="27" name="Picture 26" descr="calibration_curve_fus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00011" y="2125423"/>
            <a:ext cx="5410223" cy="40576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1303604" y="6366607"/>
            <a:ext cx="11395490" cy="892552"/>
          </a:xfrm>
          <a:prstGeom prst="rect">
            <a:avLst/>
          </a:prstGeom>
          <a:solidFill>
            <a:srgbClr val="FA4616"/>
          </a:solidFill>
        </p:spPr>
        <p:txBody>
          <a:bodyPr wrap="square">
            <a:spAutoFit/>
          </a:bodyPr>
          <a:lstStyle/>
          <a:p>
            <a:pPr algn="just">
              <a:defRPr sz="2000" b="0">
                <a:solidFill>
                  <a:srgbClr val="FFFFFF"/>
                </a:solidFill>
              </a:defRPr>
            </a:pPr>
            <a:r>
              <a:rPr sz="2600" dirty="0">
                <a:latin typeface="Calibri" panose="02020603050405020304" pitchFamily="18" charset="0"/>
                <a:cs typeface="Times New Roman" panose="02020603050405020304" pitchFamily="18" charset="0"/>
              </a:rPr>
              <a:t>Figure 4. Confusion matrix and calibration curve for the fusion model. Despite poor discrimination, calibration reflects the narrow probability range around 0.5.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200011" y="15336690"/>
            <a:ext cx="532638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A4616"/>
                </a:solidFill>
              </a:defRPr>
            </a:pPr>
            <a:r>
              <a:rPr sz="2600" dirty="0">
                <a:solidFill>
                  <a:schemeClr val="bg1"/>
                </a:solidFill>
                <a:latin typeface="Calibri"/>
              </a:rPr>
              <a:t>Deployment Concept &amp; Future Work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4B08A0E-BDF0-D001-FE07-BEB1D727E8D6}"/>
              </a:ext>
            </a:extLst>
          </p:cNvPr>
          <p:cNvGrpSpPr/>
          <p:nvPr/>
        </p:nvGrpSpPr>
        <p:grpSpPr>
          <a:xfrm>
            <a:off x="29407657" y="15856"/>
            <a:ext cx="3474720" cy="1371600"/>
            <a:chOff x="28886206" y="114300"/>
            <a:chExt cx="3474720" cy="1371600"/>
          </a:xfrm>
        </p:grpSpPr>
        <p:sp>
          <p:nvSpPr>
            <p:cNvPr id="6" name="Rectangle 5"/>
            <p:cNvSpPr/>
            <p:nvPr/>
          </p:nvSpPr>
          <p:spPr>
            <a:xfrm>
              <a:off x="28886206" y="114300"/>
              <a:ext cx="3474720" cy="1371600"/>
            </a:xfrm>
            <a:prstGeom prst="rect">
              <a:avLst/>
            </a:prstGeom>
            <a:solidFill>
              <a:srgbClr val="FA46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800" b="1">
                  <a:solidFill>
                    <a:srgbClr val="FFFFFF"/>
                  </a:solidFill>
                </a:defRPr>
              </a:pPr>
              <a:endParaRPr dirty="0"/>
            </a:p>
          </p:txBody>
        </p:sp>
        <p:pic>
          <p:nvPicPr>
            <p:cNvPr id="37" name="Picture 36" descr="A green alligator head with orange and blue background&#10;&#10;Description automatically generated">
              <a:extLst>
                <a:ext uri="{FF2B5EF4-FFF2-40B4-BE49-F238E27FC236}">
                  <a16:creationId xmlns:a16="http://schemas.microsoft.com/office/drawing/2014/main" id="{BC3CC924-3B6E-5A11-CEDD-B0A58CCF2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29750145" y="245477"/>
              <a:ext cx="1746842" cy="1109245"/>
            </a:xfrm>
            <a:prstGeom prst="rect">
              <a:avLst/>
            </a:prstGeom>
          </p:spPr>
        </p:pic>
      </p:grpSp>
      <p:sp>
        <p:nvSpPr>
          <p:cNvPr id="30" name="TextBox 29"/>
          <p:cNvSpPr txBox="1"/>
          <p:nvPr/>
        </p:nvSpPr>
        <p:spPr>
          <a:xfrm>
            <a:off x="26915017" y="16060323"/>
            <a:ext cx="596736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• Streamlit front‑end: interactive risk plots, SHAP explanations, and ECG saliency.</a:t>
            </a:r>
          </a:p>
          <a:p>
            <a:r>
              <a:rPr lang="en-US" sz="2600" dirty="0">
                <a:solidFill>
                  <a:schemeClr val="bg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• Edge scenario: smartwatch concept that pushes alerts when calibrated risk crosses a threshold.</a:t>
            </a:r>
          </a:p>
          <a:p>
            <a:r>
              <a:rPr lang="en-US" sz="2600" dirty="0">
                <a:solidFill>
                  <a:schemeClr val="bg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• Next steps: extend to real ECG datasets (e.g., PTB‑XL), perform cross‑validation, tune architectures, and add uncertainty estimates.</a:t>
            </a:r>
          </a:p>
          <a:p>
            <a:r>
              <a:rPr lang="en-US" sz="2600" dirty="0">
                <a:solidFill>
                  <a:schemeClr val="bg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• Ethical lens: emphasize false‑positive burden, transparency, and data bias when moving toward real patients.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9048A88-7373-E793-BB16-780B04915DF2}"/>
              </a:ext>
            </a:extLst>
          </p:cNvPr>
          <p:cNvSpPr txBox="1"/>
          <p:nvPr/>
        </p:nvSpPr>
        <p:spPr>
          <a:xfrm>
            <a:off x="2904811" y="13055737"/>
            <a:ext cx="307032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A4616"/>
                </a:solidFill>
              </a:defRPr>
            </a:pPr>
            <a:r>
              <a:rPr lang="en-US" sz="2600" dirty="0">
                <a:solidFill>
                  <a:srgbClr val="FA4616"/>
                </a:solidFill>
                <a:latin typeface="Calibri"/>
              </a:rPr>
              <a:t>Quantitative Results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0182B9C-A454-41D3-C5B1-124B307F66C3}"/>
              </a:ext>
            </a:extLst>
          </p:cNvPr>
          <p:cNvSpPr txBox="1"/>
          <p:nvPr/>
        </p:nvSpPr>
        <p:spPr>
          <a:xfrm>
            <a:off x="88583" y="18290607"/>
            <a:ext cx="91440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The fusion architecture yields increasing improvements over unimodal models, although absolute performance is constrained by the limited and imbalanced evaluation set. Probability estimates were refined using a Platt-scaled calibrator trained on held-out predictions (see accompanying calibration artifacts). All reported metrics are produced through a reproducible prediction and scoring pipeline. Deliverable 3 prioritizes stability, calibration quality, and interpretability over raw discriminative performance. </a:t>
            </a:r>
          </a:p>
        </p:txBody>
      </p: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EEBBBC80-E9CD-8E36-09D5-01ADDD59C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408257"/>
              </p:ext>
            </p:extLst>
          </p:nvPr>
        </p:nvGraphicFramePr>
        <p:xfrm>
          <a:off x="820354" y="13609735"/>
          <a:ext cx="7680455" cy="4432648"/>
        </p:xfrm>
        <a:graphic>
          <a:graphicData uri="http://schemas.openxmlformats.org/drawingml/2006/table">
            <a:tbl>
              <a:tblPr>
                <a:effectLst>
                  <a:outerShdw blurRad="40000" dist="23000" dir="5400000" rotWithShape="0">
                    <a:schemeClr val="bg1">
                      <a:alpha val="35000"/>
                    </a:schemeClr>
                  </a:outerShdw>
                </a:effectLst>
                <a:tableStyleId>{638B1855-1B75-4FBE-930C-398BA8C253C6}</a:tableStyleId>
              </a:tblPr>
              <a:tblGrid>
                <a:gridCol w="1537412">
                  <a:extLst>
                    <a:ext uri="{9D8B030D-6E8A-4147-A177-3AD203B41FA5}">
                      <a16:colId xmlns:a16="http://schemas.microsoft.com/office/drawing/2014/main" val="3521263017"/>
                    </a:ext>
                  </a:extLst>
                </a:gridCol>
                <a:gridCol w="2507185">
                  <a:extLst>
                    <a:ext uri="{9D8B030D-6E8A-4147-A177-3AD203B41FA5}">
                      <a16:colId xmlns:a16="http://schemas.microsoft.com/office/drawing/2014/main" val="4019434208"/>
                    </a:ext>
                  </a:extLst>
                </a:gridCol>
                <a:gridCol w="1902003">
                  <a:extLst>
                    <a:ext uri="{9D8B030D-6E8A-4147-A177-3AD203B41FA5}">
                      <a16:colId xmlns:a16="http://schemas.microsoft.com/office/drawing/2014/main" val="395371255"/>
                    </a:ext>
                  </a:extLst>
                </a:gridCol>
                <a:gridCol w="1733855">
                  <a:extLst>
                    <a:ext uri="{9D8B030D-6E8A-4147-A177-3AD203B41FA5}">
                      <a16:colId xmlns:a16="http://schemas.microsoft.com/office/drawing/2014/main" val="681322781"/>
                    </a:ext>
                  </a:extLst>
                </a:gridCol>
              </a:tblGrid>
              <a:tr h="770990">
                <a:tc>
                  <a:txBody>
                    <a:bodyPr/>
                    <a:lstStyle/>
                    <a:p>
                      <a:r>
                        <a:rPr lang="en-US" b="1"/>
                        <a:t>Metric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Tabular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ECG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Fusion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533522"/>
                  </a:ext>
                </a:extLst>
              </a:tr>
              <a:tr h="523094">
                <a:tc>
                  <a:txBody>
                    <a:bodyPr/>
                    <a:lstStyle/>
                    <a:p>
                      <a:r>
                        <a:rPr lang="en-US" b="1"/>
                        <a:t>Accuracy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0.563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397189"/>
                  </a:ext>
                </a:extLst>
              </a:tr>
              <a:tr h="523094">
                <a:tc>
                  <a:txBody>
                    <a:bodyPr/>
                    <a:lstStyle/>
                    <a:p>
                      <a:r>
                        <a:rPr lang="en-US" b="1"/>
                        <a:t>ROC AUC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0.527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0.297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0.453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455200"/>
                  </a:ext>
                </a:extLst>
              </a:tr>
              <a:tr h="523094">
                <a:tc>
                  <a:txBody>
                    <a:bodyPr/>
                    <a:lstStyle/>
                    <a:p>
                      <a:r>
                        <a:rPr lang="en-US" b="1"/>
                        <a:t>PR AUC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0.560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0.375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0.526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735822"/>
                  </a:ext>
                </a:extLst>
              </a:tr>
              <a:tr h="523094">
                <a:tc>
                  <a:txBody>
                    <a:bodyPr/>
                    <a:lstStyle/>
                    <a:p>
                      <a:r>
                        <a:rPr lang="en-US" b="1"/>
                        <a:t>Brier Score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0.351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0.331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0.362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751986"/>
                  </a:ext>
                </a:extLst>
              </a:tr>
              <a:tr h="523094">
                <a:tc>
                  <a:txBody>
                    <a:bodyPr/>
                    <a:lstStyle/>
                    <a:p>
                      <a:r>
                        <a:rPr lang="en-US" b="1"/>
                        <a:t>F1 Score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0.609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0.526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0.588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528357"/>
                  </a:ext>
                </a:extLst>
              </a:tr>
              <a:tr h="523094">
                <a:tc>
                  <a:txBody>
                    <a:bodyPr/>
                    <a:lstStyle/>
                    <a:p>
                      <a:r>
                        <a:rPr lang="en-US" b="1"/>
                        <a:t>Sensitivity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0.700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0.625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050236"/>
                  </a:ext>
                </a:extLst>
              </a:tr>
              <a:tr h="523094">
                <a:tc>
                  <a:txBody>
                    <a:bodyPr/>
                    <a:lstStyle/>
                    <a:p>
                      <a:r>
                        <a:rPr lang="en-US" b="1"/>
                        <a:t>Specificity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0.455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0.250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46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494183"/>
                  </a:ext>
                </a:extLst>
              </a:tr>
            </a:tbl>
          </a:graphicData>
        </a:graphic>
      </p:graphicFrame>
      <p:pic>
        <p:nvPicPr>
          <p:cNvPr id="60" name="Picture 59" descr="U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87440" y="11634158"/>
            <a:ext cx="5326387" cy="9646993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03604" y="2092805"/>
            <a:ext cx="5410223" cy="432712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1450624" y="7506876"/>
            <a:ext cx="1143175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600" dirty="0">
              <a:solidFill>
                <a:schemeClr val="bg1"/>
              </a:solidFill>
            </a:endParaRPr>
          </a:p>
          <a:p>
            <a:r>
              <a:rPr lang="en-US" sz="2600" dirty="0">
                <a:solidFill>
                  <a:schemeClr val="bg1"/>
                </a:solidFill>
              </a:rPr>
              <a:t>• ROC curve shows near-random discrimination, driven primarily by the very small evaluation set.</a:t>
            </a:r>
          </a:p>
          <a:p>
            <a:r>
              <a:rPr lang="en-US" sz="2600" dirty="0">
                <a:solidFill>
                  <a:schemeClr val="bg1"/>
                </a:solidFill>
              </a:rPr>
              <a:t>• Precision–Recall curve highlights the impact of class imbalance and limited positive support.</a:t>
            </a:r>
          </a:p>
          <a:p>
            <a:r>
              <a:rPr lang="en-US" sz="2600" dirty="0">
                <a:solidFill>
                  <a:schemeClr val="bg1"/>
                </a:solidFill>
              </a:rPr>
              <a:t>• Prediction histogram reveals a narrow probability range centered near 0.5, indicating weak separation.</a:t>
            </a:r>
          </a:p>
          <a:p>
            <a:r>
              <a:rPr lang="en-US" sz="2600" dirty="0">
                <a:solidFill>
                  <a:schemeClr val="bg1"/>
                </a:solidFill>
              </a:rPr>
              <a:t>• Calibration curve demonstrates reasonably calibrated outputs despite low discriminative power.</a:t>
            </a:r>
          </a:p>
          <a:p>
            <a:pPr>
              <a:defRPr sz="2600">
                <a:latin typeface="Calibri"/>
              </a:defRPr>
            </a:pPr>
            <a:endParaRPr sz="2600" dirty="0">
              <a:solidFill>
                <a:schemeClr val="bg1"/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2C66C60-6F70-2FAB-A141-5BD5576E7A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37163" y="2056962"/>
            <a:ext cx="10524085" cy="4555449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A3BB3CC9-121B-8EE5-4F72-A2EA55190307}"/>
              </a:ext>
            </a:extLst>
          </p:cNvPr>
          <p:cNvSpPr txBox="1"/>
          <p:nvPr/>
        </p:nvSpPr>
        <p:spPr>
          <a:xfrm>
            <a:off x="26808011" y="11678185"/>
            <a:ext cx="6074366" cy="830997"/>
          </a:xfrm>
          <a:prstGeom prst="rect">
            <a:avLst/>
          </a:prstGeom>
          <a:solidFill>
            <a:srgbClr val="FA4616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Figure 5. Live demonstration interface of the Multi-Modal CVD Risk Predictor.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71005"/>
            <a:ext cx="32918400" cy="228600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B85B04A-B1FA-6E0F-DCBB-32E78D751A0B}"/>
              </a:ext>
            </a:extLst>
          </p:cNvPr>
          <p:cNvSpPr txBox="1"/>
          <p:nvPr/>
        </p:nvSpPr>
        <p:spPr>
          <a:xfrm>
            <a:off x="26808011" y="12612510"/>
            <a:ext cx="6110388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Calibri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Streamlit UI accepts (1) tabular clinical variables that are automatically preprocessed by a scikit-learn ColumnTransformer, and (2) a raw single-lead ECG trace (uploaded as .csv or .</a:t>
            </a:r>
            <a:r>
              <a:rPr lang="en-US" sz="2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npy</a:t>
            </a:r>
            <a:r>
              <a:rPr lang="en-US" sz="2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743</Words>
  <Application>Microsoft Macintosh PowerPoint</Application>
  <PresentationFormat>Custom</PresentationFormat>
  <Paragraphs>74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Morenu, Angel H.</cp:lastModifiedBy>
  <cp:revision>34</cp:revision>
  <dcterms:created xsi:type="dcterms:W3CDTF">2013-01-27T09:14:16Z</dcterms:created>
  <dcterms:modified xsi:type="dcterms:W3CDTF">2025-12-04T17:28:16Z</dcterms:modified>
  <cp:category/>
</cp:coreProperties>
</file>